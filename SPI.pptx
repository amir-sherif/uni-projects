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1" r:id="rId9"/>
    <p:sldId id="263" r:id="rId10"/>
    <p:sldId id="264" r:id="rId11"/>
    <p:sldId id="265" r:id="rId12"/>
    <p:sldId id="268" r:id="rId13"/>
    <p:sldId id="266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9C365-60F9-46DD-9598-EC8E4C06D503}" v="39" dt="2026-08-13T08:45:01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8391C-5D6D-4CE7-BC62-63CB74C1449A}" type="datetimeFigureOut"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2650F-D4D1-44D0-8948-66FF271E32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2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10896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mages/icon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9637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 PROTOCOL WITH APB INTERFACE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Using FPGA — A Memory-Mapped SPI Controller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886200"/>
            <a:ext cx="2743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069080"/>
            <a:ext cx="8686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FE8F3"/>
                </a:solidFill>
                <a:latin typeface="Calibri"/>
                <a:ea typeface="Calibri"/>
                <a:cs typeface="Calibri"/>
              </a:rPr>
              <a:t>RTL Modules:  </a:t>
            </a:r>
            <a:r>
              <a:rPr lang="en-US" sz="1300" dirty="0" err="1">
                <a:solidFill>
                  <a:srgbClr val="CFE8F3"/>
                </a:solidFill>
                <a:latin typeface="Calibri"/>
                <a:ea typeface="Calibri"/>
                <a:cs typeface="Calibri"/>
              </a:rPr>
              <a:t>APB_spi_interface</a:t>
            </a:r>
            <a:r>
              <a:rPr lang="en-US" sz="1300" dirty="0">
                <a:solidFill>
                  <a:srgbClr val="CFE8F3"/>
                </a:solidFill>
                <a:latin typeface="Calibri"/>
                <a:ea typeface="Calibri"/>
                <a:cs typeface="Calibri"/>
              </a:rPr>
              <a:t>  ·  master  ·  slave (×4)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5910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91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490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APB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protocol is and why they're paired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15910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1591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490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783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this design solves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514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2468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3682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6609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RTL modules and signal 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229514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2468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3682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Map &amp; FSM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6609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software drives the hardware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17296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33467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Walkthrough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5387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transfer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317296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9672" y="33467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Result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35387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after synthesis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050792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" y="42245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25880" y="4123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Design Notes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44165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known scope boundaries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SPI?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Peripheral Interface (SPI) is a synchronous, full-duplex, point-to-point serial protocol used to connect microcontrollers to sensors, memories, displays, and other peripherals.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54203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957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SCK / SCLK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clock — generated by the master, coordinates timing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4495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986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Out, Slave In — data from master to slave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4787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015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In, Slave Out — data from slave to master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5079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044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/ CS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Slave/Chip Select — one dedicated line per slave device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2920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master and slave shift data on the same clock edge, SPI achieves high throughput with a very simple interface — at the cost of a dedicated chip-select per slave.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280160"/>
            <a:ext cx="4846320" cy="5029200"/>
          </a:xfrm>
          <a:prstGeom prst="roundRect">
            <a:avLst>
              <a:gd name="adj" fmla="val 2264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images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1934870"/>
            <a:ext cx="427939" cy="4279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2084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Master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60920" y="3200400"/>
            <a:ext cx="22860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7360920" y="29260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60920" y="3657600"/>
            <a:ext cx="2286000" cy="0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360920" y="33832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60920" y="4114800"/>
            <a:ext cx="2286000" cy="0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  <a:headEnd type="triangle"/>
          </a:ln>
        </p:spPr>
      </p:sp>
      <p:sp>
        <p:nvSpPr>
          <p:cNvPr id="23" name="Text 20"/>
          <p:cNvSpPr/>
          <p:nvPr/>
        </p:nvSpPr>
        <p:spPr>
          <a:xfrm>
            <a:off x="7360920" y="416966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60920" y="4572000"/>
            <a:ext cx="22860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dash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7360920" y="462686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921240" y="3474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1" descr="images/icon_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750" y="3672230"/>
            <a:ext cx="427939" cy="42793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50976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949440" y="56235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can address up to 4 slaves in this design — one CS line per device, shared SCLK / MOSI / MISO bus.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APB?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Peripheral Bus (APB) is the low-complexity member of ARM's AMBA bus family, built for simple register-style access to peripherals that don't need high bandwidth.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4048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mages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252557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SETUP Phase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0632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PSEL is asserted, addressing the target peripheral and signalling the start of a transfer.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14884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24048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mages/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252557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ACCESS Phase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28232" y="30632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PENABLE is asserted; PWDATA/PADDR/PWRITE select the operation and the slave returns PRDATA, optionally inserting wait states via PREADY.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APB Signals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482803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2"/>
          <p:cNvSpPr/>
          <p:nvPr/>
        </p:nvSpPr>
        <p:spPr>
          <a:xfrm>
            <a:off x="896112" y="46908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PCLK / PRESETn — bus clock &amp; reset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1937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4"/>
          <p:cNvSpPr/>
          <p:nvPr/>
        </p:nvSpPr>
        <p:spPr>
          <a:xfrm>
            <a:off x="896112" y="50566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PSEL / PENABLE — transfer handshake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55595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6"/>
          <p:cNvSpPr/>
          <p:nvPr/>
        </p:nvSpPr>
        <p:spPr>
          <a:xfrm>
            <a:off x="896112" y="54223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PWRITE, PADDR, PWDATA — write access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592531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18"/>
          <p:cNvSpPr/>
          <p:nvPr/>
        </p:nvSpPr>
        <p:spPr>
          <a:xfrm>
            <a:off x="896112" y="57881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PRDATA, PREADY, PSLVERR — slave response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949440" y="4343400"/>
            <a:ext cx="4572000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78040" y="4498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this project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178040" y="4864608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PREADY is tied permanently high in this design (zero wait-state slave), and PSLVERR is tied low — every register access completes in the minimum two cycles.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Project Solves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processor talks in memory-mapped registers. SPI peripherals talk in raw, timing-sensitive serial bits. Something has to translate.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mages/icon_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25767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Mismatch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has no addressable registers, wait states, or bus arbitration — the CPU only understands load/store. apb_spi_interface bridges the two into ordinary register accesses.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4231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mages/icon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779" y="25767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46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CPU-Driven Bit-Banging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393192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hardware support, software must toggle SCLK/MOSI and sample MISO itself — burning CPU cycles and risking incorrect mode timing.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2423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mages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539" y="25767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246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393192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master_spi_final_form owns clock generation, shifting, and mode handling in hardware — software just writes data and polls a status bit.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This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mage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276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Standard-Bus Compliant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PSEL/PENABLE/PWRITE handshake — drops into any AMBA-based SoC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mages/icon_rep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14" y="17318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6276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SPI Mode Coverage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663440" y="2286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CPOL/CPHA are software-programmable, covering all four SPI modes (0–3)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22960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58200" y="1600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mages/icon_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17318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0" y="16276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Clock Rate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58200" y="2286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DVSR trades throughput vs. signal integrity, no hardware changes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images/icon_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4" y="43379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2336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Multi-Slave Support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68680" y="48920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2-bit SLAVE_SEL + one-cold 4-bit CS bus address up to 4 slaves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4434840" y="3977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6344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images/icon_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5114" y="433791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42336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Zero-Wait-State Access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663440" y="48920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PREADY tied high — every register access completes in 2 cycles</a:t>
            </a:r>
            <a:endParaRPr lang="en-US" sz="1080" dirty="0"/>
          </a:p>
        </p:txBody>
      </p:sp>
      <p:sp>
        <p:nvSpPr>
          <p:cNvPr id="28" name="Shape 21"/>
          <p:cNvSpPr/>
          <p:nvPr/>
        </p:nvSpPr>
        <p:spPr>
          <a:xfrm>
            <a:off x="8229600" y="3977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5820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5" descr="images/icon_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874" y="43379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44000" y="42336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Reusable RTL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458200" y="48920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narrow interfaces let each module be reused independently</a:t>
            </a:r>
            <a:endParaRPr lang="en-US" sz="1080" dirty="0"/>
          </a:p>
        </p:txBody>
      </p:sp>
      <p:sp>
        <p:nvSpPr>
          <p:cNvPr id="33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RTL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E1E8ED"/>
            </a:solidFill>
            <a:prstDash val="solid"/>
          </a:ln>
          <a:effectLst>
            <a:outerShdw blurRad="76200" dist="381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1691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mages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3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APB_spi_interface</a:t>
            </a:r>
            <a:endParaRPr lang="en-US" sz="14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31272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 slave / register file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SPI controller to software as four memory-mapped registers: TX_DATA, RX_DATA, CTRL, STATUS. Writes are captured synchronously on PCLK; reads are combinational with PREADY tied high.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E1E8ED"/>
            </a:solidFill>
            <a:prstDash val="solid"/>
          </a:ln>
          <a:effectLst>
            <a:outerShdw blurRad="76200" dist="381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1691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mages/icon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090" y="18891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master</a:t>
            </a:r>
            <a:endParaRPr lang="en-US" sz="145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17720" y="31272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master FSM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09160" y="35661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SCLK from a programmable divider, drives the selected chip-select, and shifts 32 bits in/out — reproducing all four standard SPI clock modes via CPOL/CPHA.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E1E8ED"/>
            </a:solidFill>
            <a:prstDash val="solid"/>
          </a:ln>
          <a:effectLst>
            <a:outerShdw blurRad="76200" dist="381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78340" y="169164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images/icon_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5850" y="188915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743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(×4)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31272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SPI slave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503920" y="35661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loopback slave that shifts MOSI in and MISO out, used to close the loop and validate the master. Not a production peripheral.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 → SPI Master → 4 SPI Slaves — three RTL modules translate register accesses into serial transactions.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4983480"/>
          </a:xfrm>
          <a:prstGeom prst="roundRect">
            <a:avLst>
              <a:gd name="adj" fmla="val 1835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5" name="Image 0" descr="images/system_top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508760"/>
            <a:ext cx="10835640" cy="4718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Register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apb_spi_interface decodes a 4-bit PADDR into four word-aligned registers.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TX_DATA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data to transmit; loaded into the shift register on transaction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RX_DATA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word most recently received from the SPI slave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START, CPOL, CPHA, SLAVE_SEL[1:0], DVSR[3:0] — see field table below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bit0 = BUSY, bit1 = DONE — mirrors the master's status flags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solidFill>
            <a:srgbClr val="065A82"/>
          </a:solidFill>
          <a:ln/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572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TX_DATA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data to transmit; loaded into the shift register on transaction 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RX_DATA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word most recently received from the SPI slave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START, CPOL, CPHA, SLAVE_SEL[1:0], DVSR[3:0] — see field table below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bit0 = BUSY, bit1 = DONE — mirrors the master's status flags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64008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Register (0x8) — Bit Fields</a:t>
            </a:r>
            <a:endParaRPr lang="en-US" sz="14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89120"/>
          <a:ext cx="10881360" cy="19751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One-clock pulse that begins a new 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polarity — idle level of SCLK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phase — which edge samples/shifts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SLAVE_SEL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which of 4 chip-select lines is active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DVSR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clock divider setting SPI clock 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640080" y="4389120"/>
            <a:ext cx="10881360" cy="329184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4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89120"/>
          <a:ext cx="10881360" cy="3291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 Master — Two-State FSM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master_spi_final_form runs an IDLE / RUN state machine driven by the START pulse and a programmable clock divider.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937760" cy="329184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mages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21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697480"/>
            <a:ext cx="4434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SCLK at the CPOL-defined idle level; de-asserts all chip-selects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START: latches CPOL, CPHA, SLAVE_SEL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32-bit data_in into the TX shift register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RX register and bit counter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selected CS active (one-cold) and moves to RUN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2926080"/>
            <a:ext cx="77724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66928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3840480"/>
            <a:ext cx="77724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  <a:headEnd type="triangle"/>
          </a:ln>
        </p:spPr>
      </p:sp>
      <p:sp>
        <p:nvSpPr>
          <p:cNvPr id="12" name="Text 9"/>
          <p:cNvSpPr/>
          <p:nvPr/>
        </p:nvSpPr>
        <p:spPr>
          <a:xfrm>
            <a:off x="557784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32nd bit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0" y="1737360"/>
            <a:ext cx="4800600" cy="329184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0" y="20116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1" descr="images/icon_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619" y="216529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2121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858000" y="2697480"/>
            <a:ext cx="4343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counter compares against DVSR to generate SCLK edges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CPHA decides sample edge (shift MISO in) vs. shift edge (drive MOSI out)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for all 32 bits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final bit: latches data_out, releases CS, returns SCLK to idle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BUSY, pulses DONE, returns to IDLE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" y="5257800"/>
            <a:ext cx="1056132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51560" y="5440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/ DONE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software know — via the STATUS register — when it's safe to write new TX_DATA or read fresh RX_DATA, without needing an interrupt line.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Transaction Sequence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993392" cy="3566160"/>
          </a:xfrm>
          <a:prstGeom prst="roundRect">
            <a:avLst>
              <a:gd name="adj" fmla="val 4587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344168" y="1627632"/>
            <a:ext cx="585216" cy="585216"/>
          </a:xfrm>
          <a:prstGeom prst="ellipse">
            <a:avLst/>
          </a:prstGeom>
          <a:solidFill>
            <a:srgbClr val="F2A541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4168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TX_DATA (0x0)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writes the 32-bit word to transmit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703320"/>
            <a:ext cx="19202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920240"/>
            <a:ext cx="1993392" cy="3566160"/>
          </a:xfrm>
          <a:prstGeom prst="roundRect">
            <a:avLst>
              <a:gd name="adj" fmla="val 4587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627632"/>
            <a:ext cx="585216" cy="585216"/>
          </a:xfrm>
          <a:prstGeom prst="ellipse">
            <a:avLst/>
          </a:prstGeom>
          <a:solidFill>
            <a:srgbClr val="F2A541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99232" y="23774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CTRL (0x8)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99232" y="3291840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CPOL, CPHA, SLAVE_SEL, DVSR, and START=1 in the same write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73752" y="3703320"/>
            <a:ext cx="19202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84064" y="1920240"/>
            <a:ext cx="1993392" cy="3566160"/>
          </a:xfrm>
          <a:prstGeom prst="roundRect">
            <a:avLst>
              <a:gd name="adj" fmla="val 4587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5788152" y="1627632"/>
            <a:ext cx="585216" cy="585216"/>
          </a:xfrm>
          <a:prstGeom prst="ellipse">
            <a:avLst/>
          </a:prstGeom>
          <a:solidFill>
            <a:srgbClr val="F2A541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88152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21224" y="23774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SPI master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21224" y="3291840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forwards these fields; START produces a single clock pulse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95744" y="3703320"/>
            <a:ext cx="19202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06056" y="1920240"/>
            <a:ext cx="1993392" cy="3566160"/>
          </a:xfrm>
          <a:prstGeom prst="roundRect">
            <a:avLst>
              <a:gd name="adj" fmla="val 4587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8010144" y="1627632"/>
            <a:ext cx="585216" cy="585216"/>
          </a:xfrm>
          <a:prstGeom prst="ellipse">
            <a:avLst/>
          </a:prstGeom>
          <a:solidFill>
            <a:srgbClr val="F2A541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43216" y="23774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32 bits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43216" y="3291840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asserts the chosen CS and shifts data over SCLK/MOSI/MISO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17736" y="3703320"/>
            <a:ext cx="19202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28048" y="1920240"/>
            <a:ext cx="1993392" cy="3566160"/>
          </a:xfrm>
          <a:prstGeom prst="roundRect">
            <a:avLst>
              <a:gd name="adj" fmla="val 4587"/>
            </a:avLst>
          </a:prstGeom>
          <a:solidFill>
            <a:srgbClr val="06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32136" y="1627632"/>
            <a:ext cx="585216" cy="585216"/>
          </a:xfrm>
          <a:prstGeom prst="ellipse">
            <a:avLst/>
          </a:prstGeom>
          <a:solidFill>
            <a:srgbClr val="F2A541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32136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65208" y="23774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&amp; read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65208" y="3291840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polls STATUS until BUSY=0, DONE=1, then reads RX_DATA (0x4)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 &amp; Possible Extensions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scope boundaries of this version — not defects, but starting points for anyone extending the project.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mages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751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Reporting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069080" y="176479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PSLVERR is hard-wired to 0 — malformed APB accesses cannot be signalled back to the bus master.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7797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mages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8895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791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Only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069080" y="267919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is only observable via STATUS; no interrupt output, so the CPU must poll BUSY/DONE.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mages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80390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935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32-bit Transfers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069080" y="359359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and reference slave always exchange exactly 32 bits; variable length would need a length field.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43484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6085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mages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71830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5079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Divider Range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069080" y="450799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DVSR is 4 bits wide, limiting SPI clock rate selection to 16 steps from the system clock.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069080" y="5422392"/>
            <a:ext cx="722376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>
              <a:solidFill>
                <a:srgbClr val="1B243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gate-level schematic after synthesis, showing the master, APB interface, four slaves, and the MISO select MUX network.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4983480"/>
          </a:xfrm>
          <a:prstGeom prst="roundRect">
            <a:avLst>
              <a:gd name="adj" fmla="val 1835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5" name="Image 0" descr="images/synthe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508760"/>
            <a:ext cx="10835640" cy="4718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0"/>
            <a:ext cx="480060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054" y="1091407"/>
            <a:ext cx="3506391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93" y="1548409"/>
            <a:ext cx="6297017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buNone/>
            </a:pPr>
            <a:r>
              <a:rPr lang="en-US" sz="3667" b="1" kern="0" spc="-7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Linting &amp; Synthesis</a:t>
            </a:r>
            <a:endParaRPr lang="en-US" sz="3667" dirty="0"/>
          </a:p>
        </p:txBody>
      </p:sp>
      <p:sp>
        <p:nvSpPr>
          <p:cNvPr id="5" name="Shape 1"/>
          <p:cNvSpPr/>
          <p:nvPr/>
        </p:nvSpPr>
        <p:spPr>
          <a:xfrm>
            <a:off x="661493" y="2446139"/>
            <a:ext cx="6297017" cy="2863453"/>
          </a:xfrm>
          <a:prstGeom prst="roundRect">
            <a:avLst>
              <a:gd name="adj" fmla="val 2773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80542" y="2465190"/>
            <a:ext cx="6258917" cy="1289844"/>
          </a:xfrm>
          <a:custGeom>
            <a:avLst/>
            <a:gdLst/>
            <a:ahLst/>
            <a:cxnLst/>
            <a:rect l="l" t="t" r="r" b="b"/>
            <a:pathLst>
              <a:path w="4694188" h="967383">
                <a:moveTo>
                  <a:pt x="49619" y="0"/>
                </a:moveTo>
                <a:lnTo>
                  <a:pt x="4644569" y="0"/>
                </a:lnTo>
                <a:arcTo wR="49619" hR="49619" stAng="16200000" swAng="5400000"/>
                <a:lnTo>
                  <a:pt x="4694188" y="967383"/>
                </a:lnTo>
                <a:lnTo>
                  <a:pt x="0" y="96738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7" name="Text 3"/>
          <p:cNvSpPr/>
          <p:nvPr/>
        </p:nvSpPr>
        <p:spPr>
          <a:xfrm>
            <a:off x="869554" y="2654201"/>
            <a:ext cx="5880893" cy="307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Lint Clean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69554" y="3074689"/>
            <a:ext cx="588089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buNone/>
            </a:pPr>
            <a:r>
              <a:rPr lang="en-US" sz="1467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linting pass performed on all RTL modules — zero warnings, no undriven signals or latches inferred. Design is synthesis-ready.</a:t>
            </a:r>
            <a:endParaRPr lang="en-US" sz="1467" dirty="0"/>
          </a:p>
        </p:txBody>
      </p:sp>
      <p:sp>
        <p:nvSpPr>
          <p:cNvPr id="9" name="Shape 5"/>
          <p:cNvSpPr/>
          <p:nvPr/>
        </p:nvSpPr>
        <p:spPr>
          <a:xfrm>
            <a:off x="680542" y="3755034"/>
            <a:ext cx="6258917" cy="1535509"/>
          </a:xfrm>
          <a:custGeom>
            <a:avLst/>
            <a:gdLst/>
            <a:ahLst/>
            <a:cxnLst/>
            <a:rect l="l" t="t" r="r" b="b"/>
            <a:pathLst>
              <a:path w="4694188" h="1151632">
                <a:moveTo>
                  <a:pt x="0" y="0"/>
                </a:moveTo>
                <a:lnTo>
                  <a:pt x="4694188" y="0"/>
                </a:lnTo>
                <a:lnTo>
                  <a:pt x="4694188" y="1102013"/>
                </a:lnTo>
                <a:arcTo wR="49619" hR="49619" stAng="0" swAng="5400000"/>
                <a:lnTo>
                  <a:pt x="49619" y="1151632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Shape 6"/>
          <p:cNvSpPr/>
          <p:nvPr/>
        </p:nvSpPr>
        <p:spPr>
          <a:xfrm>
            <a:off x="680542" y="3755033"/>
            <a:ext cx="6258917" cy="25400"/>
          </a:xfrm>
          <a:prstGeom prst="roundRect">
            <a:avLst>
              <a:gd name="adj" fmla="val 50000"/>
            </a:avLst>
          </a:prstGeom>
          <a:solidFill>
            <a:srgbClr val="002A80"/>
          </a:solidFill>
          <a:ln/>
        </p:spPr>
      </p:sp>
      <p:sp>
        <p:nvSpPr>
          <p:cNvPr id="11" name="Text 7"/>
          <p:cNvSpPr/>
          <p:nvPr/>
        </p:nvSpPr>
        <p:spPr>
          <a:xfrm>
            <a:off x="869554" y="3944044"/>
            <a:ext cx="5880893" cy="307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Protocol Synthesized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9554" y="4364534"/>
            <a:ext cx="588089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8000"/>
              </a:lnSpc>
            </a:pPr>
            <a:r>
              <a:rPr lang="en-US" sz="1450" dirty="0">
                <a:solidFill>
                  <a:srgbClr val="EBEDF0"/>
                </a:solidFill>
                <a:latin typeface="Geist"/>
                <a:ea typeface="Geist"/>
                <a:cs typeface="Geist" pitchFamily="34" charset="-120"/>
              </a:rPr>
              <a:t>Complete SPI-APB communication stack synthesized to gate-level </a:t>
            </a:r>
            <a:r>
              <a:rPr lang="en-US" sz="1450">
                <a:solidFill>
                  <a:srgbClr val="EBEDF0"/>
                </a:solidFill>
                <a:latin typeface="Geist"/>
                <a:ea typeface="Geist"/>
                <a:cs typeface="Geist" pitchFamily="34" charset="-120"/>
              </a:rPr>
              <a:t>netlist APB interface, SPI master FSM, and slave all realized in </a:t>
            </a:r>
            <a:r>
              <a:rPr lang="en-US" sz="1450" dirty="0">
                <a:solidFill>
                  <a:srgbClr val="EBEDF0"/>
                </a:solidFill>
                <a:latin typeface="Geist"/>
                <a:ea typeface="Geist"/>
                <a:cs typeface="Geist" pitchFamily="34" charset="-120"/>
              </a:rPr>
              <a:t>hardware.</a:t>
            </a:r>
            <a:endParaRPr lang="en-US" sz="1450" dirty="0">
              <a:latin typeface="Geist"/>
              <a:ea typeface="Geist"/>
            </a:endParaRPr>
          </a:p>
        </p:txBody>
      </p:sp>
    </p:spTree>
    <p:extLst>
      <p:ext uri="{BB962C8B-B14F-4D97-AF65-F5344CB8AC3E}">
        <p14:creationId xmlns:p14="http://schemas.microsoft.com/office/powerpoint/2010/main" val="331684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34</cp:revision>
  <dcterms:created xsi:type="dcterms:W3CDTF">2026-08-13T08:09:43Z</dcterms:created>
  <dcterms:modified xsi:type="dcterms:W3CDTF">2026-08-13T08:46:45Z</dcterms:modified>
</cp:coreProperties>
</file>